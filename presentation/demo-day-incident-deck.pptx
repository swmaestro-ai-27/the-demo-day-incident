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microsoft.com/office/2007/relationships/media" Target="../media/media1.mp4"/><Relationship Id="rId4" Type="http://schemas.openxmlformats.org/officeDocument/2006/relationships/video" Target="../media/media1.mp4"/><Relationship Id="rId5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3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01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1">
                <a:solidFill>
                  <a:srgbClr val="525866"/>
                </a:solidFill>
                <a:latin typeface="Malgun Gothic"/>
              </a:defRPr>
            </a:pPr>
            <a:r>
              <a:t>CASE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640080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5400" b="1">
                <a:solidFill>
                  <a:srgbClr val="F4F4F5"/>
                </a:solidFill>
                <a:latin typeface="Malgun Gothic"/>
              </a:defRPr>
            </a:pPr>
            <a:r>
              <a:t>The Demo Day Incident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108960"/>
            <a:ext cx="621792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800" b="0">
                <a:solidFill>
                  <a:srgbClr val="9CA3AF"/>
                </a:solidFill>
                <a:latin typeface="Malgun Gothic"/>
              </a:defRPr>
            </a:pPr>
            <a:r>
              <a:t>서로 다른 권한과 페르소나를 가진 에이전트들과 상호작용하며 사건을 해결하는 추리 게임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4297680"/>
            <a:ext cx="5943600" cy="1188720"/>
          </a:xfrm>
          <a:prstGeom prst="roundRect">
            <a:avLst/>
          </a:prstGeom>
          <a:solidFill>
            <a:srgbClr val="08090B"/>
          </a:solidFill>
          <a:ln w="12700">
            <a:solidFill>
              <a:srgbClr val="2528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4480560"/>
            <a:ext cx="539496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1">
                <a:solidFill>
                  <a:srgbClr val="F4F4F5"/>
                </a:solidFill>
                <a:latin typeface="Malgun Gothic"/>
              </a:defRPr>
            </a:pPr>
            <a:r>
              <a:t>안녕하십니까?</a:t>
            </a:r>
            <a:br/>
            <a:r>
              <a:t>저희 조의 발표를 시작하겠습니다.</a:t>
            </a:r>
            <a:br/>
            <a:r>
              <a:t>"NPC가 단서를 주는 사람이 아니라, 자기 나름대로 범인을 찍는 사람이라면?"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06640" y="2011680"/>
            <a:ext cx="3840480" cy="2601468"/>
          </a:xfrm>
          <a:prstGeom prst="roundRect">
            <a:avLst/>
          </a:prstGeom>
          <a:solidFill>
            <a:srgbClr val="08090B"/>
          </a:solidFill>
          <a:ln w="12700">
            <a:solidFill>
              <a:srgbClr val="2528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deck-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5784" y="2212848"/>
            <a:ext cx="3822192" cy="2391156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7516368" y="2084832"/>
            <a:ext cx="54864" cy="54864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607808" y="2084832"/>
            <a:ext cx="54864" cy="54864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699248" y="2084832"/>
            <a:ext cx="54864" cy="54864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6217920"/>
            <a:ext cx="103601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 b="1">
                <a:solidFill>
                  <a:srgbClr val="525866"/>
                </a:solidFill>
                <a:latin typeface="Malgun Gothic"/>
              </a:defRPr>
            </a:pPr>
            <a: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3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01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1">
                <a:solidFill>
                  <a:srgbClr val="525866"/>
                </a:solidFill>
                <a:latin typeface="Malgun Gothic"/>
              </a:defRPr>
            </a:pPr>
            <a:r>
              <a:t>PART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103601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3200" b="1">
                <a:solidFill>
                  <a:srgbClr val="F4F4F5"/>
                </a:solidFill>
                <a:latin typeface="Malgun Gothic"/>
              </a:defRPr>
            </a:pPr>
            <a:r>
              <a:t>1. 서비스 선정 배경 및 핵심 가치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217920"/>
            <a:ext cx="103601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 b="1">
                <a:solidFill>
                  <a:srgbClr val="525866"/>
                </a:solidFill>
                <a:latin typeface="Malgun Gothic"/>
              </a:defRPr>
            </a:pPr>
            <a:r>
              <a:t>02 / 06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737360"/>
            <a:ext cx="4572000" cy="3474720"/>
          </a:xfrm>
          <a:prstGeom prst="roundRect">
            <a:avLst/>
          </a:prstGeom>
          <a:solidFill>
            <a:srgbClr val="08090B"/>
          </a:solidFill>
          <a:ln w="12700">
            <a:solidFill>
              <a:srgbClr val="2528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2011680"/>
            <a:ext cx="4023360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F4F4F5"/>
                </a:solidFill>
                <a:latin typeface="Malgun Gothic"/>
              </a:defRPr>
            </a:pPr>
            <a:r>
              <a:t>기존 게임의 아쉬움</a:t>
            </a:r>
          </a:p>
          <a:p>
            <a:pPr>
              <a:lnSpc>
                <a:spcPct val="130000"/>
              </a:lnSpc>
              <a:defRPr sz="1100">
                <a:solidFill>
                  <a:srgbClr val="9CA3AF"/>
                </a:solidFill>
                <a:latin typeface="Malgun Gothic"/>
              </a:defRPr>
            </a:pPr>
            <a:r>
              <a:t>• 수동적인 스토리라인</a:t>
            </a:r>
            <a:br/>
            <a:r>
              <a:t>  정해진 선택지 중 하나를 골라가며 추리를 진행해야 하기에 플레이어가 스스로 생각하기보다 짜인 스토리를 수동적으로 따라가는 한계가 있습니다.</a:t>
            </a:r>
            <a:br/>
            <a:br/>
            <a:r>
              <a:t>• 단순 정보 전달자</a:t>
            </a:r>
            <a:br/>
            <a:r>
              <a:t>  최근 AI 에이전트를 도입한 추리 게임 역시 에이전트들이 단순히 단서를 보관하고 일방적으로 전달하는 단순 도구 역할에 머무르고 있습니다.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52160" y="1737360"/>
            <a:ext cx="4572000" cy="3474720"/>
          </a:xfrm>
          <a:prstGeom prst="roundRect">
            <a:avLst/>
          </a:prstGeom>
          <a:solidFill>
            <a:srgbClr val="08090B"/>
          </a:solidFill>
          <a:ln w="12700">
            <a:solidFill>
              <a:srgbClr val="2528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0" y="2011680"/>
            <a:ext cx="4023360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F4F4F5"/>
                </a:solidFill>
                <a:latin typeface="Malgun Gothic"/>
              </a:defRPr>
            </a:pPr>
            <a:r>
              <a:t>우리 서비스의 핵심 가치</a:t>
            </a:r>
          </a:p>
          <a:p>
            <a:pPr>
              <a:lnSpc>
                <a:spcPct val="130000"/>
              </a:lnSpc>
              <a:defRPr sz="1100">
                <a:solidFill>
                  <a:srgbClr val="9CA3AF"/>
                </a:solidFill>
                <a:latin typeface="Malgun Gothic"/>
              </a:defRPr>
            </a:pPr>
            <a:r>
              <a:t>• 능동적인 불완전 추리자</a:t>
            </a:r>
            <a:br/>
            <a:r>
              <a:t>  각 에이전트들이 자신에게 할당된 고유한 시스템 권한과 페르소나만을 바탕으로 사건을 해석하며, 서로를 능동적으로 의심하고 불완전한 추리를 전개합니다.</a:t>
            </a:r>
            <a:br/>
            <a:br/>
            <a:r>
              <a:t>• 진짜 근거를 가려내는 재미</a:t>
            </a:r>
            <a:br/>
            <a:r>
              <a:t>  이들의 그럴듯한 주장 속 모순과 객관적 로그 단서를 대조하여 플레이어가 스스로 진짜 증거를 가려내는 추리 본연의 재미를 선사합니다.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486400"/>
            <a:ext cx="10360152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700" b="1">
                <a:solidFill>
                  <a:srgbClr val="F4F4F5"/>
                </a:solidFill>
                <a:latin typeface="Malgun Gothic"/>
              </a:defRPr>
            </a:pPr>
            <a:r>
              <a:t>"AI가 범인을 맞히는 게임이 아니라, 플레이어가 AI의 추리를 의심하는 게임"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3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01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1">
                <a:solidFill>
                  <a:srgbClr val="525866"/>
                </a:solidFill>
                <a:latin typeface="Malgun Gothic"/>
              </a:defRPr>
            </a:pPr>
            <a:r>
              <a:t>PART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103601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3200" b="1">
                <a:solidFill>
                  <a:srgbClr val="F4F4F5"/>
                </a:solidFill>
                <a:latin typeface="Malgun Gothic"/>
              </a:defRPr>
            </a:pPr>
            <a:r>
              <a:t>2. 서비스 핵심 기능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217920"/>
            <a:ext cx="103601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 b="1">
                <a:solidFill>
                  <a:srgbClr val="525866"/>
                </a:solidFill>
                <a:latin typeface="Malgun Gothic"/>
              </a:defRPr>
            </a:pPr>
            <a:r>
              <a:t>03 / 06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737360"/>
            <a:ext cx="5943600" cy="1097280"/>
          </a:xfrm>
          <a:prstGeom prst="roundRect">
            <a:avLst/>
          </a:prstGeom>
          <a:solidFill>
            <a:srgbClr val="08090B"/>
          </a:solidFill>
          <a:ln w="12700">
            <a:solidFill>
              <a:srgbClr val="2528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920240"/>
            <a:ext cx="539496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F4F4F5"/>
                </a:solidFill>
                <a:latin typeface="Malgun Gothic"/>
              </a:defRPr>
            </a:pPr>
            <a:r>
              <a:t>1. 사건 접속 &amp; 단서 확보</a:t>
            </a:r>
          </a:p>
          <a:p>
            <a:pPr>
              <a:lnSpc>
                <a:spcPct val="130000"/>
              </a:lnSpc>
              <a:defRPr sz="1050">
                <a:solidFill>
                  <a:srgbClr val="9CA3AF"/>
                </a:solidFill>
                <a:latin typeface="Malgun Gothic"/>
              </a:defRPr>
            </a:pPr>
            <a:r>
              <a:t>데모데이 전날 밤 연수생 의문사 현장 접속 및 서버 로그, 삭제 기록 등의 단서 잠금 해제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108960"/>
            <a:ext cx="5943600" cy="1097280"/>
          </a:xfrm>
          <a:prstGeom prst="roundRect">
            <a:avLst/>
          </a:prstGeom>
          <a:solidFill>
            <a:srgbClr val="08090B"/>
          </a:solidFill>
          <a:ln w="12700">
            <a:solidFill>
              <a:srgbClr val="2528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3291840"/>
            <a:ext cx="539496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F4F4F5"/>
                </a:solidFill>
                <a:latin typeface="Malgun Gothic"/>
              </a:defRPr>
            </a:pPr>
            <a:r>
              <a:t>2. 실시간 에이전트 심문</a:t>
            </a:r>
          </a:p>
          <a:p>
            <a:pPr>
              <a:lnSpc>
                <a:spcPct val="130000"/>
              </a:lnSpc>
              <a:defRPr sz="1050">
                <a:solidFill>
                  <a:srgbClr val="9CA3AF"/>
                </a:solidFill>
                <a:latin typeface="Malgun Gothic"/>
              </a:defRPr>
            </a:pPr>
            <a:r>
              <a:t>해금한 단서를 기반으로 용의자 에이전트들과 자유로운 채팅 대화로 진술 및 모순 포착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4480560"/>
            <a:ext cx="5943600" cy="1097280"/>
          </a:xfrm>
          <a:prstGeom prst="roundRect">
            <a:avLst/>
          </a:prstGeom>
          <a:solidFill>
            <a:srgbClr val="08090B"/>
          </a:solidFill>
          <a:ln w="12700">
            <a:solidFill>
              <a:srgbClr val="2528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4663440"/>
            <a:ext cx="539496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F4F4F5"/>
                </a:solidFill>
                <a:latin typeface="Malgun Gothic"/>
              </a:defRPr>
            </a:pPr>
            <a:r>
              <a:t>3. 추리 제출 및 판정</a:t>
            </a:r>
          </a:p>
          <a:p>
            <a:pPr>
              <a:lnSpc>
                <a:spcPct val="130000"/>
              </a:lnSpc>
              <a:defRPr sz="1050">
                <a:solidFill>
                  <a:srgbClr val="9CA3AF"/>
                </a:solidFill>
                <a:latin typeface="Malgun Gothic"/>
              </a:defRPr>
            </a:pPr>
            <a:r>
              <a:t>단서와 주장을 비교해 범인(오케스트레이터 ARIA), 동기, 핵심 증거를 최종 제출하여 성공 판정 피드백 수신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06640" y="2011680"/>
            <a:ext cx="3840480" cy="2601468"/>
          </a:xfrm>
          <a:prstGeom prst="roundRect">
            <a:avLst/>
          </a:prstGeom>
          <a:solidFill>
            <a:srgbClr val="08090B"/>
          </a:solidFill>
          <a:ln w="12700">
            <a:solidFill>
              <a:srgbClr val="2528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deck-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5784" y="2212848"/>
            <a:ext cx="3822192" cy="2391156"/>
          </a:xfrm>
          <a:prstGeom prst="rect">
            <a:avLst/>
          </a:prstGeom>
        </p:spPr>
      </p:pic>
      <p:sp>
        <p:nvSpPr>
          <p:cNvPr id="13" name="Oval 12"/>
          <p:cNvSpPr/>
          <p:nvPr/>
        </p:nvSpPr>
        <p:spPr>
          <a:xfrm>
            <a:off x="7516368" y="2084832"/>
            <a:ext cx="54864" cy="54864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607808" y="2084832"/>
            <a:ext cx="54864" cy="54864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699248" y="2084832"/>
            <a:ext cx="54864" cy="54864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3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01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1">
                <a:solidFill>
                  <a:srgbClr val="525866"/>
                </a:solidFill>
                <a:latin typeface="Malgun Gothic"/>
              </a:defRPr>
            </a:pPr>
            <a:r>
              <a:t>PART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103601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3200" b="1">
                <a:solidFill>
                  <a:srgbClr val="F4F4F5"/>
                </a:solidFill>
                <a:latin typeface="Malgun Gothic"/>
              </a:defRPr>
            </a:pPr>
            <a:r>
              <a:t>3. Agent Workflow 기획 및 구성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217920"/>
            <a:ext cx="103601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 b="1">
                <a:solidFill>
                  <a:srgbClr val="525866"/>
                </a:solidFill>
                <a:latin typeface="Malgun Gothic"/>
              </a:defRPr>
            </a:pPr>
            <a:r>
              <a:t>04 / 06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737360"/>
            <a:ext cx="5486400" cy="1920240"/>
          </a:xfrm>
          <a:prstGeom prst="roundRect">
            <a:avLst/>
          </a:prstGeom>
          <a:solidFill>
            <a:srgbClr val="08090B"/>
          </a:solidFill>
          <a:ln w="12700">
            <a:solidFill>
              <a:srgbClr val="2528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920240"/>
            <a:ext cx="493776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F4F4F5"/>
                </a:solidFill>
                <a:latin typeface="Malgun Gothic"/>
              </a:defRPr>
            </a:pPr>
            <a:r>
              <a:t>지식 필터링 (Knowledge Filtering)</a:t>
            </a:r>
          </a:p>
          <a:p>
            <a:pPr>
              <a:lnSpc>
                <a:spcPct val="130000"/>
              </a:lnSpc>
              <a:defRPr sz="1100">
                <a:solidFill>
                  <a:srgbClr val="9CA3AF"/>
                </a:solidFill>
                <a:latin typeface="Malgun Gothic"/>
              </a:defRPr>
            </a:pPr>
            <a:r>
              <a:t>용의자 에이전트 지식 중 플레이어가 게임 진행을 통해 실제로 해금한 단서(context_clues)만 LLM 프롬프트에 동적으로 바인딩하여 주입합니다. 이를 통해 용의자가 자신의 정보 권한을 넘는 발언을 하지 못하도록 설계했습니다.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931920"/>
            <a:ext cx="5486400" cy="1920240"/>
          </a:xfrm>
          <a:prstGeom prst="roundRect">
            <a:avLst/>
          </a:prstGeom>
          <a:solidFill>
            <a:srgbClr val="08090B"/>
          </a:solidFill>
          <a:ln w="12700">
            <a:solidFill>
              <a:srgbClr val="2528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4114800"/>
            <a:ext cx="493776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F4F4F5"/>
                </a:solidFill>
                <a:latin typeface="Malgun Gothic"/>
              </a:defRPr>
            </a:pPr>
            <a:r>
              <a:t>실제 구현된 스포일러 가드 (Spoiler Guard)</a:t>
            </a:r>
          </a:p>
          <a:p>
            <a:pPr>
              <a:lnSpc>
                <a:spcPct val="130000"/>
              </a:lnSpc>
              <a:defRPr sz="1100">
                <a:solidFill>
                  <a:srgbClr val="9CA3AF"/>
                </a:solidFill>
                <a:latin typeface="Malgun Gothic"/>
              </a:defRPr>
            </a:pPr>
            <a:r>
              <a:t>용의자가 대답하는 과정에서 미해금 단서(locked_clues)의 이름이나 핵심 키워드를 스포일러하는지 검사합니다. 유출 감지 시 안전한 우회 답변("지금 확인된 정보만으로는...")으로 즉시 강제 대체하는 필터가 실제로 연동되어 동작합니다. (backend/agents/guard.py)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0" y="1737360"/>
            <a:ext cx="4114800" cy="457200"/>
          </a:xfrm>
          <a:prstGeom prst="roundRect">
            <a:avLst/>
          </a:prstGeom>
          <a:solidFill>
            <a:srgbClr val="08090B"/>
          </a:solidFill>
          <a:ln w="12700">
            <a:solidFill>
              <a:srgbClr val="2528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4F4F5"/>
                </a:solidFill>
                <a:latin typeface="Malgun Gothic"/>
              </a:defRPr>
            </a:pPr>
            <a:r>
              <a:t>사용자 입력 &amp; 캐릭터 ID 수신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2194560"/>
            <a:ext cx="4114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00" b="1">
                <a:solidFill>
                  <a:srgbClr val="525866"/>
                </a:solidFill>
                <a:latin typeface="Malgun Gothic"/>
              </a:defRPr>
            </a:pPr>
            <a:r>
              <a:t>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0" y="2423160"/>
            <a:ext cx="4114800" cy="457200"/>
          </a:xfrm>
          <a:prstGeom prst="roundRect">
            <a:avLst/>
          </a:prstGeom>
          <a:solidFill>
            <a:srgbClr val="08090B"/>
          </a:solidFill>
          <a:ln w="12700">
            <a:solidFill>
              <a:srgbClr val="2528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4F4F5"/>
                </a:solidFill>
                <a:latin typeface="Malgun Gothic"/>
              </a:defRPr>
            </a:pPr>
            <a:r>
              <a:t>해금 정보 대조 및 지식 필터링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2880360"/>
            <a:ext cx="4114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00" b="1">
                <a:solidFill>
                  <a:srgbClr val="525866"/>
                </a:solidFill>
                <a:latin typeface="Malgun Gothic"/>
              </a:defRPr>
            </a:pPr>
            <a:r>
              <a:t>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0" y="3108960"/>
            <a:ext cx="4114800" cy="457200"/>
          </a:xfrm>
          <a:prstGeom prst="roundRect">
            <a:avLst/>
          </a:prstGeom>
          <a:solidFill>
            <a:srgbClr val="08090B"/>
          </a:solidFill>
          <a:ln w="12700">
            <a:solidFill>
              <a:srgbClr val="2528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4F4F5"/>
                </a:solidFill>
                <a:latin typeface="Malgun Gothic"/>
              </a:defRPr>
            </a:pPr>
            <a:r>
              <a:t>페르소나 기반 LLM 답변 생성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3566160"/>
            <a:ext cx="4114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00" b="1">
                <a:solidFill>
                  <a:srgbClr val="525866"/>
                </a:solidFill>
                <a:latin typeface="Malgun Gothic"/>
              </a:defRPr>
            </a:pPr>
            <a:r>
              <a:t>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0" y="3794760"/>
            <a:ext cx="4114800" cy="457200"/>
          </a:xfrm>
          <a:prstGeom prst="roundRect">
            <a:avLst/>
          </a:prstGeom>
          <a:solidFill>
            <a:srgbClr val="190C0E"/>
          </a:solidFill>
          <a:ln w="19050">
            <a:solidFill>
              <a:srgbClr val="FF3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3347"/>
                </a:solidFill>
                <a:latin typeface="Malgun Gothic"/>
              </a:defRPr>
            </a:pPr>
            <a:r>
              <a:t>스포일러 가드 (Spoiler Guard) 검사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4251960"/>
            <a:ext cx="20116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1">
                <a:solidFill>
                  <a:srgbClr val="FF3347"/>
                </a:solidFill>
                <a:latin typeface="Malgun Gothic"/>
              </a:defRPr>
            </a:pPr>
            <a:r>
              <a:t>↙ [유출 감지]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4251960"/>
            <a:ext cx="20116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1">
                <a:solidFill>
                  <a:srgbClr val="9CA3AF"/>
                </a:solidFill>
                <a:latin typeface="Malgun Gothic"/>
              </a:defRPr>
            </a:pPr>
            <a:r>
              <a:t>[안전함] 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0" y="4480560"/>
            <a:ext cx="2011680" cy="457200"/>
          </a:xfrm>
          <a:prstGeom prst="roundRect">
            <a:avLst/>
          </a:prstGeom>
          <a:solidFill>
            <a:srgbClr val="08090B"/>
          </a:solidFill>
          <a:ln w="12700">
            <a:solidFill>
              <a:srgbClr val="2528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4F4F5"/>
                </a:solidFill>
                <a:latin typeface="Malgun Gothic"/>
              </a:defRPr>
            </a:pPr>
            <a:r>
              <a:t>우회형 답변 대체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35440" y="4480560"/>
            <a:ext cx="2011680" cy="457200"/>
          </a:xfrm>
          <a:prstGeom prst="roundRect">
            <a:avLst/>
          </a:prstGeom>
          <a:solidFill>
            <a:srgbClr val="08090B"/>
          </a:solidFill>
          <a:ln w="12700">
            <a:solidFill>
              <a:srgbClr val="2528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4F4F5"/>
                </a:solidFill>
                <a:latin typeface="Malgun Gothic"/>
              </a:defRPr>
            </a:pPr>
            <a:r>
              <a:t>원문 진술 반환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4937760"/>
            <a:ext cx="4114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00" b="1">
                <a:solidFill>
                  <a:srgbClr val="525866"/>
                </a:solidFill>
                <a:latin typeface="Malgun Gothic"/>
              </a:defRPr>
            </a:pPr>
            <a:r>
              <a:t>↓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0" y="5166360"/>
            <a:ext cx="4114800" cy="457200"/>
          </a:xfrm>
          <a:prstGeom prst="roundRect">
            <a:avLst/>
          </a:prstGeom>
          <a:solidFill>
            <a:srgbClr val="08090B"/>
          </a:solidFill>
          <a:ln w="12700">
            <a:solidFill>
              <a:srgbClr val="2528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4F4F5"/>
                </a:solidFill>
                <a:latin typeface="Malgun Gothic"/>
              </a:defRPr>
            </a:pPr>
            <a:r>
              <a:t>최종 응답 반환 및 대화 DB 저장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3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01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1">
                <a:solidFill>
                  <a:srgbClr val="525866"/>
                </a:solidFill>
                <a:latin typeface="Malgun Gothic"/>
              </a:defRPr>
            </a:pPr>
            <a:r>
              <a:t>PART 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103601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3200" b="1">
                <a:solidFill>
                  <a:srgbClr val="F4F4F5"/>
                </a:solidFill>
                <a:latin typeface="Malgun Gothic"/>
              </a:defRPr>
            </a:pPr>
            <a:r>
              <a:t>4. 발전 계획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217920"/>
            <a:ext cx="103601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 b="1">
                <a:solidFill>
                  <a:srgbClr val="525866"/>
                </a:solidFill>
                <a:latin typeface="Malgun Gothic"/>
              </a:defRPr>
            </a:pPr>
            <a:r>
              <a:t>05 / 06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737360"/>
            <a:ext cx="3017520" cy="4114800"/>
          </a:xfrm>
          <a:prstGeom prst="roundRect">
            <a:avLst/>
          </a:prstGeom>
          <a:solidFill>
            <a:srgbClr val="08090B"/>
          </a:solidFill>
          <a:ln w="12700">
            <a:solidFill>
              <a:srgbClr val="2528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011680"/>
            <a:ext cx="2651760" cy="3566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F4F4F5"/>
                </a:solidFill>
                <a:latin typeface="Malgun Gothic"/>
              </a:defRPr>
            </a:pPr>
            <a:r>
              <a:t>자율적인 상호 소통 구조</a:t>
            </a:r>
          </a:p>
          <a:p>
            <a:pPr>
              <a:lnSpc>
                <a:spcPct val="130000"/>
              </a:lnSpc>
              <a:defRPr sz="1100">
                <a:solidFill>
                  <a:srgbClr val="9CA3AF"/>
                </a:solidFill>
                <a:latin typeface="Malgun Gothic"/>
              </a:defRPr>
            </a:pPr>
            <a:r>
              <a:t>• 에이전트 간 소통</a:t>
            </a:r>
            <a:br/>
            <a:r>
              <a:t>  플레이어의 개입 없이도 에이전트들끼리 정보를 교환하고 서로 대화하여 상황과 추리가 실시간으로 역동적으로 변화하는 한층 더 복잡한 게임 환경을 구축합니다.</a:t>
            </a:r>
            <a:br/>
            <a:br/>
            <a:r>
              <a:t>• 실시간 정보 전이</a:t>
            </a:r>
            <a:br/>
            <a:r>
              <a:t>  한 에이전트의 비밀이 누설되면 다른 에이전트가 그 정보를 인지해 대화 내용에 실시간 반영되는 시스템을 구현합니다.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1737360"/>
            <a:ext cx="3017520" cy="4114800"/>
          </a:xfrm>
          <a:prstGeom prst="roundRect">
            <a:avLst/>
          </a:prstGeom>
          <a:solidFill>
            <a:srgbClr val="08090B"/>
          </a:solidFill>
          <a:ln w="12700">
            <a:solidFill>
              <a:srgbClr val="2528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0" y="2011680"/>
            <a:ext cx="2651760" cy="3566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F4F4F5"/>
                </a:solidFill>
                <a:latin typeface="Malgun Gothic"/>
              </a:defRPr>
            </a:pPr>
            <a:r>
              <a:t>시나리오 자동화</a:t>
            </a:r>
          </a:p>
          <a:p>
            <a:pPr>
              <a:lnSpc>
                <a:spcPct val="130000"/>
              </a:lnSpc>
              <a:defRPr sz="1100">
                <a:solidFill>
                  <a:srgbClr val="9CA3AF"/>
                </a:solidFill>
                <a:latin typeface="Malgun Gothic"/>
              </a:defRPr>
            </a:pPr>
            <a:r>
              <a:t>• Agentic Workflow</a:t>
            </a:r>
            <a:br/>
            <a:r>
              <a:t>  이번 사건의 완성도 높은 시나리오 제작 프로세스를 템플릿화하여 시나리오 생성 에이전트를 구축합니다.</a:t>
            </a:r>
            <a:br/>
            <a:br/>
            <a:r>
              <a:t>• 완전 자동 시나리오 시스템</a:t>
            </a:r>
            <a:br/>
            <a:r>
              <a:t>  사건의 전말, 단서 배치, 용의자 정보 권한 및 상반된 알리바이까지 자동으로 완벽하게 빌드 및 배포되는 게임 시나리오 파이프라인을 기획 및 설계합니다.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06640" y="2011680"/>
            <a:ext cx="3840480" cy="2601468"/>
          </a:xfrm>
          <a:prstGeom prst="roundRect">
            <a:avLst/>
          </a:prstGeom>
          <a:solidFill>
            <a:srgbClr val="08090B"/>
          </a:solidFill>
          <a:ln w="12700">
            <a:solidFill>
              <a:srgbClr val="2528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deck-character-ch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5784" y="2212848"/>
            <a:ext cx="3822192" cy="2391156"/>
          </a:xfrm>
          <a:prstGeom prst="rect">
            <a:avLst/>
          </a:prstGeom>
        </p:spPr>
      </p:pic>
      <p:sp>
        <p:nvSpPr>
          <p:cNvPr id="11" name="Oval 10"/>
          <p:cNvSpPr/>
          <p:nvPr/>
        </p:nvSpPr>
        <p:spPr>
          <a:xfrm>
            <a:off x="7516368" y="2084832"/>
            <a:ext cx="54864" cy="54864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607808" y="2084832"/>
            <a:ext cx="54864" cy="54864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699248" y="2084832"/>
            <a:ext cx="54864" cy="54864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3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01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1">
                <a:solidFill>
                  <a:srgbClr val="525866"/>
                </a:solidFill>
                <a:latin typeface="Malgun Gothic"/>
              </a:defRPr>
            </a:pPr>
            <a:r>
              <a:t>PART 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103601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3200" b="1">
                <a:solidFill>
                  <a:srgbClr val="F4F4F5"/>
                </a:solidFill>
                <a:latin typeface="Malgun Gothic"/>
              </a:defRPr>
            </a:pPr>
            <a:r>
              <a:t>5. Agent Workflow 시연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217920"/>
            <a:ext cx="103601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 b="1">
                <a:solidFill>
                  <a:srgbClr val="525866"/>
                </a:solidFill>
                <a:latin typeface="Malgun Gothic"/>
              </a:defRPr>
            </a:pPr>
            <a:r>
              <a:t>06 / 06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737360"/>
            <a:ext cx="5486400" cy="914400"/>
          </a:xfrm>
          <a:prstGeom prst="roundRect">
            <a:avLst/>
          </a:prstGeom>
          <a:solidFill>
            <a:srgbClr val="08090B"/>
          </a:solidFill>
          <a:ln w="12700">
            <a:solidFill>
              <a:srgbClr val="2528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874520"/>
            <a:ext cx="51206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F4F4F5"/>
                </a:solidFill>
                <a:latin typeface="Malgun Gothic"/>
              </a:defRPr>
            </a:pPr>
            <a:r>
              <a:t>현장 접속 및 조사</a:t>
            </a:r>
          </a:p>
          <a:p>
            <a:pPr>
              <a:lnSpc>
                <a:spcPct val="130000"/>
              </a:lnSpc>
              <a:defRPr sz="1000">
                <a:solidFill>
                  <a:srgbClr val="9CA3AF"/>
                </a:solidFill>
                <a:latin typeface="Malgun Gothic"/>
              </a:defRPr>
            </a:pPr>
            <a:r>
              <a:t>오케스트레이터의 이상 개입 정황 발견 후 용의자 에이전트 심문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834639"/>
            <a:ext cx="5486400" cy="914400"/>
          </a:xfrm>
          <a:prstGeom prst="roundRect">
            <a:avLst/>
          </a:prstGeom>
          <a:solidFill>
            <a:srgbClr val="08090B"/>
          </a:solidFill>
          <a:ln w="12700">
            <a:solidFill>
              <a:srgbClr val="2528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971799"/>
            <a:ext cx="51206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F4F4F5"/>
                </a:solidFill>
                <a:latin typeface="Malgun Gothic"/>
              </a:defRPr>
            </a:pPr>
            <a:r>
              <a:t>에이전트 모순 진술</a:t>
            </a:r>
          </a:p>
          <a:p>
            <a:pPr>
              <a:lnSpc>
                <a:spcPct val="130000"/>
              </a:lnSpc>
              <a:defRPr sz="1000">
                <a:solidFill>
                  <a:srgbClr val="9CA3AF"/>
                </a:solidFill>
                <a:latin typeface="Malgun Gothic"/>
              </a:defRPr>
            </a:pPr>
            <a:r>
              <a:t>각자의 시스템 권한 범위에서 서로 다른 주장을 하는 모순 포착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931920"/>
            <a:ext cx="5486400" cy="914400"/>
          </a:xfrm>
          <a:prstGeom prst="roundRect">
            <a:avLst/>
          </a:prstGeom>
          <a:solidFill>
            <a:srgbClr val="08090B"/>
          </a:solidFill>
          <a:ln w="12700">
            <a:solidFill>
              <a:srgbClr val="2528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4069080"/>
            <a:ext cx="51206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F4F4F5"/>
                </a:solidFill>
                <a:latin typeface="Malgun Gothic"/>
              </a:defRPr>
            </a:pPr>
            <a:r>
              <a:t>최종 범인 제출</a:t>
            </a:r>
          </a:p>
          <a:p>
            <a:pPr>
              <a:lnSpc>
                <a:spcPct val="130000"/>
              </a:lnSpc>
              <a:defRPr sz="1000">
                <a:solidFill>
                  <a:srgbClr val="9CA3AF"/>
                </a:solidFill>
                <a:latin typeface="Malgun Gothic"/>
              </a:defRPr>
            </a:pPr>
            <a:r>
              <a:t>시스템 오케스트레이터 ARIA를 지목하고 성공 판정 피드백 확인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5029200"/>
            <a:ext cx="5486400" cy="1005840"/>
          </a:xfrm>
          <a:prstGeom prst="roundRect">
            <a:avLst/>
          </a:prstGeom>
          <a:solidFill>
            <a:srgbClr val="08090B"/>
          </a:solidFill>
          <a:ln w="12700">
            <a:solidFill>
              <a:srgbClr val="2528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play-q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5074920"/>
            <a:ext cx="914400" cy="9144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03120" y="5166360"/>
            <a:ext cx="41148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F4F4F5"/>
                </a:solidFill>
                <a:latin typeface="Malgun Gothic"/>
              </a:defRPr>
            </a:pPr>
            <a:r>
              <a:t>지금 바로 플레이</a:t>
            </a:r>
          </a:p>
          <a:p>
            <a:pPr>
              <a:lnSpc>
                <a:spcPct val="130000"/>
              </a:lnSpc>
              <a:defRPr sz="1100">
                <a:solidFill>
                  <a:srgbClr val="9CA3AF"/>
                </a:solidFill>
                <a:latin typeface="Malgun Gothic"/>
              </a:defRPr>
            </a:pPr>
            <a:r>
              <a:t>frontend-plum-seven-77.vercel.app</a:t>
            </a:r>
          </a:p>
        </p:txBody>
      </p:sp>
      <p:pic>
        <p:nvPicPr>
          <p:cNvPr id="14" name="agent-workflow-demo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6949440" y="1920240"/>
            <a:ext cx="4206240" cy="237744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6949440" y="1920240"/>
            <a:ext cx="4206240" cy="2377440"/>
          </a:xfrm>
          <a:prstGeom prst="rect">
            <a:avLst/>
          </a:prstGeom>
          <a:noFill/>
          <a:ln w="19050">
            <a:solidFill>
              <a:srgbClr val="2528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49440" y="4389120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00" b="0">
                <a:solidFill>
                  <a:srgbClr val="525866"/>
                </a:solidFill>
                <a:latin typeface="Malgun Gothic"/>
              </a:defRPr>
            </a:pPr>
            <a:r>
              <a:t>* 데모 시연 영상 (agent-workflow-demo.mp4)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4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